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8" r:id="rId6"/>
    <p:sldId id="272" r:id="rId7"/>
    <p:sldId id="269" r:id="rId8"/>
    <p:sldId id="271" r:id="rId9"/>
    <p:sldId id="27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uma, Sota/東 奏太" userId="fcb81c6d-fbd6-4e73-964a-59c3b96f3da4" providerId="ADAL" clId="{5EB16F6A-E5C7-4402-9860-8B267DAFC950}"/>
    <pc:docChg chg="delSld modSld">
      <pc:chgData name="Azuma, Sota/東 奏太" userId="fcb81c6d-fbd6-4e73-964a-59c3b96f3da4" providerId="ADAL" clId="{5EB16F6A-E5C7-4402-9860-8B267DAFC950}" dt="2026-08-04T06:07:35.120" v="10" actId="2696"/>
      <pc:docMkLst>
        <pc:docMk/>
      </pc:docMkLst>
      <pc:sldChg chg="modSp mod">
        <pc:chgData name="Azuma, Sota/東 奏太" userId="fcb81c6d-fbd6-4e73-964a-59c3b96f3da4" providerId="ADAL" clId="{5EB16F6A-E5C7-4402-9860-8B267DAFC950}" dt="2026-08-04T06:07:03.671" v="9" actId="20577"/>
        <pc:sldMkLst>
          <pc:docMk/>
          <pc:sldMk cId="2778439881" sldId="256"/>
        </pc:sldMkLst>
        <pc:spChg chg="mod">
          <ac:chgData name="Azuma, Sota/東 奏太" userId="fcb81c6d-fbd6-4e73-964a-59c3b96f3da4" providerId="ADAL" clId="{5EB16F6A-E5C7-4402-9860-8B267DAFC950}" dt="2026-08-04T06:07:03.671" v="9" actId="20577"/>
          <ac:spMkLst>
            <pc:docMk/>
            <pc:sldMk cId="2778439881" sldId="256"/>
            <ac:spMk id="2" creationId="{3C2D0833-271C-D800-60F2-EFA152434378}"/>
          </ac:spMkLst>
        </pc:spChg>
      </pc:sldChg>
      <pc:sldChg chg="del">
        <pc:chgData name="Azuma, Sota/東 奏太" userId="fcb81c6d-fbd6-4e73-964a-59c3b96f3da4" providerId="ADAL" clId="{5EB16F6A-E5C7-4402-9860-8B267DAFC950}" dt="2026-08-04T06:07:35.120" v="10" actId="2696"/>
        <pc:sldMkLst>
          <pc:docMk/>
          <pc:sldMk cId="328223015" sldId="258"/>
        </pc:sldMkLst>
      </pc:sldChg>
      <pc:sldChg chg="del">
        <pc:chgData name="Azuma, Sota/東 奏太" userId="fcb81c6d-fbd6-4e73-964a-59c3b96f3da4" providerId="ADAL" clId="{5EB16F6A-E5C7-4402-9860-8B267DAFC950}" dt="2026-08-04T06:07:35.120" v="10" actId="2696"/>
        <pc:sldMkLst>
          <pc:docMk/>
          <pc:sldMk cId="3902056791" sldId="259"/>
        </pc:sldMkLst>
      </pc:sldChg>
      <pc:sldChg chg="del">
        <pc:chgData name="Azuma, Sota/東 奏太" userId="fcb81c6d-fbd6-4e73-964a-59c3b96f3da4" providerId="ADAL" clId="{5EB16F6A-E5C7-4402-9860-8B267DAFC950}" dt="2026-08-04T06:07:35.120" v="10" actId="2696"/>
        <pc:sldMkLst>
          <pc:docMk/>
          <pc:sldMk cId="2036063015" sldId="260"/>
        </pc:sldMkLst>
      </pc:sldChg>
      <pc:sldChg chg="del">
        <pc:chgData name="Azuma, Sota/東 奏太" userId="fcb81c6d-fbd6-4e73-964a-59c3b96f3da4" providerId="ADAL" clId="{5EB16F6A-E5C7-4402-9860-8B267DAFC950}" dt="2026-08-04T06:07:35.120" v="10" actId="2696"/>
        <pc:sldMkLst>
          <pc:docMk/>
          <pc:sldMk cId="455536556" sldId="261"/>
        </pc:sldMkLst>
      </pc:sldChg>
      <pc:sldChg chg="del">
        <pc:chgData name="Azuma, Sota/東 奏太" userId="fcb81c6d-fbd6-4e73-964a-59c3b96f3da4" providerId="ADAL" clId="{5EB16F6A-E5C7-4402-9860-8B267DAFC950}" dt="2026-08-04T06:07:35.120" v="10" actId="2696"/>
        <pc:sldMkLst>
          <pc:docMk/>
          <pc:sldMk cId="4028094859" sldId="262"/>
        </pc:sldMkLst>
      </pc:sldChg>
      <pc:sldChg chg="del">
        <pc:chgData name="Azuma, Sota/東 奏太" userId="fcb81c6d-fbd6-4e73-964a-59c3b96f3da4" providerId="ADAL" clId="{5EB16F6A-E5C7-4402-9860-8B267DAFC950}" dt="2026-08-04T06:07:35.120" v="10" actId="2696"/>
        <pc:sldMkLst>
          <pc:docMk/>
          <pc:sldMk cId="3808637772" sldId="266"/>
        </pc:sldMkLst>
      </pc:sldChg>
      <pc:sldChg chg="del">
        <pc:chgData name="Azuma, Sota/東 奏太" userId="fcb81c6d-fbd6-4e73-964a-59c3b96f3da4" providerId="ADAL" clId="{5EB16F6A-E5C7-4402-9860-8B267DAFC950}" dt="2026-08-04T06:07:35.120" v="10" actId="2696"/>
        <pc:sldMkLst>
          <pc:docMk/>
          <pc:sldMk cId="1939501046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8683DF-7EAB-9B51-25E6-55568383D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D42C07-3F3E-4B52-6E46-67EF17C2A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7D1F98-4208-50EE-357C-58C39D53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152BBD-5087-E69A-3FEC-DBD2A61F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AEF4AF-DF2B-5B37-A807-1435452A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74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82A72C-1CE2-9721-DE57-55633286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D11E8D-93C8-A2DB-B416-7FF166BDD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F290DE-6510-A827-EF74-2E755CDCF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21B443-A2A5-C4D0-B3E4-3A6754BE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45596D-D812-8240-EC28-0F81375B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0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B8A957-77DF-46F4-2115-DD2B000F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EE14E-4D3A-0769-88F7-716B8681C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1AD71-23AC-57C7-F95B-6614A578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E9B397-A4F0-BB5F-CFDC-4A05819B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844156-64FB-7010-4784-B2A0391D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28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AA2E75-B360-DF4A-24AB-48FAD013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267E13-8300-D84F-CB77-4AEB1E160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6D6629-A1EA-C421-DC97-CDD3C841E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2964E7-AA30-AE9E-C053-FD8C2FCF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1AC12E-7CCC-8C09-7F72-95B62FE6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0AC826-5454-C019-3B94-6689E243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8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0E0573-80EF-9039-7887-BD3CAB5A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36598B-75C7-E66B-9DF1-D492741C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852D3D-348F-BBF2-F997-079CE7325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F0A155E-C32D-C2F8-7593-84247FD58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A103768-74AC-A105-F79B-196F449AB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FF6CB19-4785-46E2-B064-2E722E0B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EF7336-71B2-E008-FEF5-9E93989A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4576F0-EC48-0863-715B-E06C3DB2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22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83992-A79C-2FBC-E5FD-7F647AFA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053DD4-BAC4-040C-6E8B-087CD9216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1E0844E-16A1-1ABE-382E-35B1CCCD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5DAB6C-DBF7-AABE-01B6-7296D589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9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FC3B3F-29F8-131D-53C3-72977F08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F8EB6E4-C855-63BA-4E3B-6F8B6F8F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8B43E9-137C-6D46-FB06-77D8762D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3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244FFB-D670-6793-FF23-96FEA87C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22CC3B-5122-DC01-E508-05D78448B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276BE4-EFB0-0CFA-4CF8-AD7FEBF7E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55BA49-AB41-538F-7B2E-63AB094E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761360-C2FD-D3C2-4F4C-0856CA41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353C42-7E2D-D970-DDC1-04858A2A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029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9DDB1C-4692-D55B-547C-24594590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0524DC2-6CFB-E45B-4724-3EB6BDF65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54D7DC-3B2B-7201-CDA3-C45F4E55A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9669F6-BFF4-C227-D5C8-B6753D45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A8A7B6-AB78-864E-5F64-941B488E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9E1FCD-BDFD-56B5-4BB3-7513B60C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995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7B176B-A9B2-C627-5752-84D2DB82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599DD2-7BBE-B687-0FF2-66047131E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0CED4D-A692-22E1-342B-4B3A1B7CE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9592B0-2067-6106-3A8A-67272EDC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8B5196-3781-2BAE-7553-F7BA8B65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062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2D093CF-6F6E-AF01-46E4-9C6409D9B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FDB7CA-E629-8108-6078-1B20000DE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3BCC90-D217-1A65-215A-516BFE70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6AE855-5047-0347-F376-24A2632D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855A51-1BB6-7096-0325-EEDAC9F5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740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95C1048-7832-DD38-284C-6C620B6EF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99ACA7-6FA1-00DD-F5A9-F6EEE4E55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AE10C6-289A-6786-BF78-D0E60FE4E5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D6411-60BF-4CCB-9230-4B2E0556A481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06C3B0-C058-0FF8-4178-75128FA8C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0FC2A6-64A2-956A-F2A7-8778DBCD5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65CE-9B3F-4522-A720-8E98918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2895CB-AE02-7C61-D2B7-8C2C88159BE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58587" y="63500"/>
            <a:ext cx="13033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PROTECTED 関係者外秘</a:t>
            </a:r>
          </a:p>
        </p:txBody>
      </p:sp>
    </p:spTree>
    <p:extLst>
      <p:ext uri="{BB962C8B-B14F-4D97-AF65-F5344CB8AC3E}">
        <p14:creationId xmlns:p14="http://schemas.microsoft.com/office/powerpoint/2010/main" val="255396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-souken.com/article/azure-ai-search-overview#sku%E5%88%A5%E3%81%AE%E6%96%99%E9%87%91%E4%B8%80%E8%A6%A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2D0833-271C-D800-60F2-EFA1524343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CHUPPY RAG</a:t>
            </a:r>
            <a:r>
              <a:rPr lang="ja-JP" altLang="en-US" dirty="0"/>
              <a:t>構成</a:t>
            </a:r>
            <a:r>
              <a:rPr kumimoji="1" lang="ja-JP" altLang="en-US" dirty="0"/>
              <a:t>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0E560DB-5C29-088A-345D-075B6B96FB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43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E0C70BA-60DE-C00A-7634-F2639843AD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0135" y="2289954"/>
            <a:ext cx="2467342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社内NAS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Excel/PPT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Intelligence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(解析のみ)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Markdown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社内</a:t>
            </a: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AI Search</a:t>
            </a:r>
            <a:endParaRPr kumimoji="0" lang="en-US" altLang="ja-JP" sz="1800" dirty="0">
              <a:latin typeface="Arial" panose="020B060402020202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E24EB8A-7208-9AC3-A079-13A4DADC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451" y="1964556"/>
            <a:ext cx="6354999" cy="35672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A417D35-7D8C-21A5-C1B1-3FCBEDFB02B7}"/>
              </a:ext>
            </a:extLst>
          </p:cNvPr>
          <p:cNvSpPr txBox="1"/>
          <p:nvPr/>
        </p:nvSpPr>
        <p:spPr>
          <a:xfrm>
            <a:off x="4553590" y="766989"/>
            <a:ext cx="2356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Nexus</a:t>
            </a:r>
            <a:r>
              <a:rPr kumimoji="1" lang="ja-JP" altLang="en-US" sz="2800" b="1" dirty="0"/>
              <a:t>の構成</a:t>
            </a:r>
          </a:p>
        </p:txBody>
      </p:sp>
    </p:spTree>
    <p:extLst>
      <p:ext uri="{BB962C8B-B14F-4D97-AF65-F5344CB8AC3E}">
        <p14:creationId xmlns:p14="http://schemas.microsoft.com/office/powerpoint/2010/main" val="7067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8A2722-7239-347A-92E7-F2424555BDD4}"/>
              </a:ext>
            </a:extLst>
          </p:cNvPr>
          <p:cNvSpPr txBox="1"/>
          <p:nvPr/>
        </p:nvSpPr>
        <p:spPr>
          <a:xfrm>
            <a:off x="674914" y="327496"/>
            <a:ext cx="267788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現行</a:t>
            </a:r>
            <a:r>
              <a:rPr kumimoji="0" lang="en-US" altLang="ja-JP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Dify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dirty="0">
                <a:latin typeface="Arial" panose="020B0604020202020204" pitchFamily="34" charset="0"/>
              </a:rPr>
              <a:t>NAS(</a:t>
            </a:r>
            <a:r>
              <a:rPr kumimoji="0" lang="ja-JP" altLang="ja-JP" dirty="0">
                <a:latin typeface="Arial" panose="020B0604020202020204" pitchFamily="34" charset="0"/>
              </a:rPr>
              <a:t>Excel/PPT</a:t>
            </a:r>
            <a:r>
              <a:rPr kumimoji="0" lang="ja-JP" altLang="en-US" dirty="0">
                <a:latin typeface="Arial" panose="020B0604020202020204" pitchFamily="34" charset="0"/>
              </a:rPr>
              <a:t>等</a:t>
            </a:r>
            <a:r>
              <a:rPr kumimoji="0" lang="en-US" altLang="ja-JP" dirty="0"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GPT-5.5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Markdown生成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キーワード生成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想定質問生成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Dify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E29609-0C5F-506A-1366-743ED1CBB28E}"/>
              </a:ext>
            </a:extLst>
          </p:cNvPr>
          <p:cNvSpPr txBox="1"/>
          <p:nvPr/>
        </p:nvSpPr>
        <p:spPr>
          <a:xfrm>
            <a:off x="5421086" y="243354"/>
            <a:ext cx="609600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dirty="0">
                <a:latin typeface="Arial" panose="020B0604020202020204" pitchFamily="34" charset="0"/>
              </a:rPr>
              <a:t>ADI</a:t>
            </a:r>
            <a:r>
              <a:rPr kumimoji="0" lang="ja-JP" altLang="en-US" dirty="0">
                <a:latin typeface="Arial" panose="020B0604020202020204" pitchFamily="34" charset="0"/>
              </a:rPr>
              <a:t>利用構成</a:t>
            </a:r>
            <a:endParaRPr kumimoji="0" lang="en-US" altLang="ja-JP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dirty="0">
                <a:latin typeface="Arial" panose="020B0604020202020204" pitchFamily="34" charset="0"/>
              </a:rPr>
              <a:t>NAS(</a:t>
            </a:r>
            <a:r>
              <a:rPr kumimoji="0" lang="ja-JP" altLang="ja-JP" dirty="0">
                <a:latin typeface="Arial" panose="020B0604020202020204" pitchFamily="34" charset="0"/>
              </a:rPr>
              <a:t>Excel/PPT</a:t>
            </a:r>
            <a:r>
              <a:rPr kumimoji="0" lang="ja-JP" altLang="en-US" dirty="0">
                <a:latin typeface="Arial" panose="020B0604020202020204" pitchFamily="34" charset="0"/>
              </a:rPr>
              <a:t>等</a:t>
            </a:r>
            <a:r>
              <a:rPr kumimoji="0" lang="en-US" altLang="ja-JP" dirty="0">
                <a:latin typeface="Arial" panose="020B0604020202020204" pitchFamily="34" charset="0"/>
              </a:rPr>
              <a:t>)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Intelligence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Python(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チャンク分割</a:t>
            </a: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</a:t>
            </a: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ja-JP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Dify</a:t>
            </a: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ナレッジ</a:t>
            </a: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利用</a:t>
            </a: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dirty="0" err="1">
                <a:latin typeface="Arial" panose="020B0604020202020204" pitchFamily="34" charset="0"/>
              </a:rPr>
              <a:t>Dify</a:t>
            </a:r>
            <a:r>
              <a:rPr kumimoji="0" lang="ja-JP" altLang="en-US" dirty="0">
                <a:latin typeface="Arial" panose="020B0604020202020204" pitchFamily="34" charset="0"/>
              </a:rPr>
              <a:t>ベクトル</a:t>
            </a:r>
            <a:r>
              <a:rPr kumimoji="0" lang="en-US" altLang="ja-JP" dirty="0">
                <a:latin typeface="Arial" panose="020B0604020202020204" pitchFamily="34" charset="0"/>
              </a:rPr>
              <a:t>DB</a:t>
            </a:r>
            <a:r>
              <a:rPr kumimoji="0" lang="ja-JP" altLang="en-US" dirty="0">
                <a:latin typeface="Arial" panose="020B0604020202020204" pitchFamily="34" charset="0"/>
              </a:rPr>
              <a:t>に保存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Dify</a:t>
            </a:r>
            <a:r>
              <a:rPr kumimoji="0" lang="ja-JP" altLang="en-US" dirty="0">
                <a:latin typeface="Arial" panose="020B0604020202020204" pitchFamily="34" charset="0"/>
              </a:rPr>
              <a:t>から呼び出し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7ADC7B5-A510-EBEB-83E4-FCA089A5F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025" y="4313182"/>
            <a:ext cx="6827320" cy="242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94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221B1A0-2CD1-8B27-3A27-5C090CFDA408}"/>
              </a:ext>
            </a:extLst>
          </p:cNvPr>
          <p:cNvSpPr/>
          <p:nvPr/>
        </p:nvSpPr>
        <p:spPr>
          <a:xfrm>
            <a:off x="3608615" y="200448"/>
            <a:ext cx="4599410" cy="6284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4E0996A-1ABF-18DD-7615-A4EE1513CC57}"/>
              </a:ext>
            </a:extLst>
          </p:cNvPr>
          <p:cNvSpPr/>
          <p:nvPr/>
        </p:nvSpPr>
        <p:spPr>
          <a:xfrm>
            <a:off x="410029" y="200448"/>
            <a:ext cx="2896589" cy="4055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718D4B-A840-9EBC-D5B6-8C59FB4E1DC2}"/>
              </a:ext>
            </a:extLst>
          </p:cNvPr>
          <p:cNvSpPr txBox="1"/>
          <p:nvPr/>
        </p:nvSpPr>
        <p:spPr>
          <a:xfrm>
            <a:off x="3808350" y="259689"/>
            <a:ext cx="42319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構成②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Intelligence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MarkdownHeaderSplitter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RecursiveSplitter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 Embedding Large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dirty="0">
                <a:latin typeface="Arial" panose="020B0604020202020204" pitchFamily="34" charset="0"/>
              </a:rPr>
              <a:t>ベクトル</a:t>
            </a:r>
            <a:r>
              <a:rPr kumimoji="0" lang="en-US" altLang="ja-JP" dirty="0">
                <a:latin typeface="Arial" panose="020B0604020202020204" pitchFamily="34" charset="0"/>
              </a:rPr>
              <a:t>DB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Dify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1FEF9B0-87BD-93D4-26C2-1C9E44551C6B}"/>
              </a:ext>
            </a:extLst>
          </p:cNvPr>
          <p:cNvSpPr txBox="1"/>
          <p:nvPr/>
        </p:nvSpPr>
        <p:spPr>
          <a:xfrm>
            <a:off x="508990" y="335303"/>
            <a:ext cx="32003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構成①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Intelligence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Markdown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Dify</a:t>
            </a: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ナレッジ</a:t>
            </a: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dirty="0">
                <a:latin typeface="Arial" panose="020B0604020202020204" pitchFamily="34" charset="0"/>
              </a:rPr>
              <a:t>チャンク化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5A8F5F-2630-6A73-06D7-D43C44A57995}"/>
              </a:ext>
            </a:extLst>
          </p:cNvPr>
          <p:cNvSpPr txBox="1"/>
          <p:nvPr/>
        </p:nvSpPr>
        <p:spPr>
          <a:xfrm>
            <a:off x="958076" y="3542051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構築が楽</a:t>
            </a:r>
            <a:endParaRPr kumimoji="1" lang="en-US" altLang="ja-JP" dirty="0"/>
          </a:p>
          <a:p>
            <a:r>
              <a:rPr lang="ja-JP" altLang="en-US" dirty="0"/>
              <a:t>属人化しにくい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0EAD4F-5B90-50F2-617A-1DAE48FF8892}"/>
              </a:ext>
            </a:extLst>
          </p:cNvPr>
          <p:cNvSpPr txBox="1"/>
          <p:nvPr/>
        </p:nvSpPr>
        <p:spPr>
          <a:xfrm>
            <a:off x="3771899" y="5172579"/>
            <a:ext cx="44262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Document Intelligence</a:t>
            </a:r>
            <a:r>
              <a:rPr kumimoji="1" lang="ja-JP" altLang="en-US" dirty="0"/>
              <a:t>の構造を活かせる</a:t>
            </a:r>
            <a:endParaRPr kumimoji="1" lang="en-US" altLang="ja-JP" dirty="0"/>
          </a:p>
          <a:p>
            <a:r>
              <a:rPr kumimoji="1" lang="ja-JP" altLang="en-US" dirty="0"/>
              <a:t>チャンクを自由に制御できる</a:t>
            </a:r>
            <a:br>
              <a:rPr kumimoji="1" lang="en-US" altLang="ja-JP" dirty="0"/>
            </a:br>
            <a:r>
              <a:rPr kumimoji="1" lang="en-US" altLang="ja-JP" dirty="0" err="1"/>
              <a:t>Dify</a:t>
            </a:r>
            <a:r>
              <a:rPr kumimoji="1" lang="ja-JP" altLang="en-US" dirty="0"/>
              <a:t>に依存しない</a:t>
            </a:r>
            <a:br>
              <a:rPr kumimoji="1" lang="en-US" altLang="ja-JP" dirty="0"/>
            </a:br>
            <a:r>
              <a:rPr kumimoji="1" lang="ja-JP" altLang="en-US" dirty="0"/>
              <a:t>将来</a:t>
            </a:r>
            <a:r>
              <a:rPr kumimoji="1" lang="en-US" altLang="ja-JP" b="1" dirty="0"/>
              <a:t>Azure AI Search</a:t>
            </a:r>
            <a:r>
              <a:rPr kumimoji="1" lang="ja-JP" altLang="en-US" dirty="0"/>
              <a:t>へ移行も容易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E6CDB1-1A97-81E4-AE84-8DAE558A0150}"/>
              </a:ext>
            </a:extLst>
          </p:cNvPr>
          <p:cNvSpPr/>
          <p:nvPr/>
        </p:nvSpPr>
        <p:spPr>
          <a:xfrm>
            <a:off x="8534403" y="200448"/>
            <a:ext cx="3025897" cy="4055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97F228-0299-EF64-7688-7EFCA1CE9F12}"/>
              </a:ext>
            </a:extLst>
          </p:cNvPr>
          <p:cNvSpPr txBox="1"/>
          <p:nvPr/>
        </p:nvSpPr>
        <p:spPr>
          <a:xfrm>
            <a:off x="8663711" y="262629"/>
            <a:ext cx="32003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構成③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Intelligence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dirty="0">
                <a:latin typeface="Arial" panose="020B0604020202020204" pitchFamily="34" charset="0"/>
              </a:rPr>
              <a:t>Markdown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dirty="0">
                <a:latin typeface="Arial" panose="020B0604020202020204" pitchFamily="34" charset="0"/>
              </a:rPr>
              <a:t>Azure AI Search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Dify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5D5E2F-2832-19C3-0A9C-E24D7E1132CE}"/>
              </a:ext>
            </a:extLst>
          </p:cNvPr>
          <p:cNvSpPr txBox="1"/>
          <p:nvPr/>
        </p:nvSpPr>
        <p:spPr>
          <a:xfrm>
            <a:off x="8605645" y="3342466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精度が高い</a:t>
            </a:r>
            <a:endParaRPr kumimoji="1" lang="en-US" altLang="ja-JP" dirty="0"/>
          </a:p>
          <a:p>
            <a:r>
              <a:rPr lang="ja-JP" altLang="en-US" dirty="0"/>
              <a:t>検索データはクラウド保存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409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5B1B1D-50FF-C0BF-CD8B-A447BCEA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26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200" dirty="0"/>
              <a:t>Azure</a:t>
            </a:r>
            <a:r>
              <a:rPr lang="ja-JP" altLang="en-US" sz="3200" dirty="0"/>
              <a:t> </a:t>
            </a:r>
            <a:r>
              <a:rPr lang="en-US" altLang="ja-JP" sz="3200" dirty="0"/>
              <a:t>AI</a:t>
            </a:r>
            <a:r>
              <a:rPr lang="ja-JP" altLang="en-US" sz="3200" dirty="0"/>
              <a:t> </a:t>
            </a:r>
            <a:r>
              <a:rPr lang="en-US" altLang="ja-JP" sz="3200" dirty="0"/>
              <a:t>Search</a:t>
            </a:r>
            <a:r>
              <a:rPr lang="ja-JP" altLang="en-US" sz="3200" dirty="0"/>
              <a:t>について</a:t>
            </a:r>
            <a:endParaRPr kumimoji="1" lang="ja-JP" altLang="en-US" sz="3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0AC327-B69D-EB80-D6F4-974585035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ja-JP" sz="2000" dirty="0"/>
              <a:t>Azure AI Search</a:t>
            </a:r>
            <a:r>
              <a:rPr kumimoji="1" lang="ja-JP" altLang="en-US" sz="2000" dirty="0"/>
              <a:t>は単なるベクトル</a:t>
            </a:r>
            <a:r>
              <a:rPr kumimoji="1" lang="en-US" altLang="ja-JP" sz="2000" dirty="0"/>
              <a:t>DB</a:t>
            </a:r>
            <a:r>
              <a:rPr kumimoji="1" lang="ja-JP" altLang="en-US" sz="2000" dirty="0"/>
              <a:t>ではなく、</a:t>
            </a:r>
            <a:endParaRPr kumimoji="1" lang="en-US" altLang="ja-JP" sz="2000" dirty="0"/>
          </a:p>
          <a:p>
            <a:r>
              <a:rPr kumimoji="1" lang="en-US" altLang="ja-JP" sz="2000" dirty="0"/>
              <a:t>BM25</a:t>
            </a:r>
            <a:r>
              <a:rPr kumimoji="1" lang="ja-JP" altLang="en-US" sz="2000" dirty="0"/>
              <a:t>（キーワード検索）</a:t>
            </a:r>
            <a:endParaRPr kumimoji="1" lang="en-US" altLang="ja-JP" sz="2000" dirty="0"/>
          </a:p>
          <a:p>
            <a:r>
              <a:rPr kumimoji="1" lang="ja-JP" altLang="en-US" sz="2000" dirty="0"/>
              <a:t>ベクトル検索</a:t>
            </a:r>
            <a:endParaRPr kumimoji="1" lang="en-US" altLang="ja-JP" sz="2000" dirty="0"/>
          </a:p>
          <a:p>
            <a:r>
              <a:rPr kumimoji="1" lang="ja-JP" altLang="en-US" sz="2000" dirty="0"/>
              <a:t>ハイブリッド検索</a:t>
            </a:r>
            <a:endParaRPr kumimoji="1" lang="en-US" altLang="ja-JP" sz="2000" dirty="0"/>
          </a:p>
          <a:p>
            <a:r>
              <a:rPr kumimoji="1" lang="en-US" altLang="ja-JP" sz="2000" dirty="0"/>
              <a:t>Semantic Ranker</a:t>
            </a:r>
            <a:r>
              <a:rPr kumimoji="1" lang="ja-JP" altLang="en-US" sz="2000" dirty="0"/>
              <a:t>　を利用できる。</a:t>
            </a:r>
            <a:endParaRPr kumimoji="1"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→ 回答精度が高くなる</a:t>
            </a:r>
            <a:endParaRPr lang="en-US" altLang="ja-JP" sz="2000" dirty="0"/>
          </a:p>
          <a:p>
            <a:pPr marL="0" indent="0">
              <a:buNone/>
            </a:pPr>
            <a:endParaRPr kumimoji="1" lang="en-US" altLang="ja-JP" sz="2000" dirty="0"/>
          </a:p>
          <a:p>
            <a:pPr marL="0" indent="0">
              <a:buNone/>
            </a:pPr>
            <a:r>
              <a:rPr kumimoji="1" lang="en-US" altLang="ja-JP" sz="2000" dirty="0"/>
              <a:t>Emb</a:t>
            </a:r>
            <a:r>
              <a:rPr lang="en-US" altLang="ja-JP" sz="2000" dirty="0"/>
              <a:t>edding</a:t>
            </a:r>
            <a:r>
              <a:rPr lang="ja-JP" altLang="en-US" sz="2000" dirty="0"/>
              <a:t>だけだと、文字列の一致検索は弱い</a:t>
            </a:r>
            <a:endParaRPr lang="en-US" altLang="ja-JP" sz="2000" dirty="0"/>
          </a:p>
          <a:p>
            <a:pPr marL="0" indent="0">
              <a:buNone/>
            </a:pPr>
            <a:r>
              <a:rPr kumimoji="1" lang="ja-JP" altLang="en-US" sz="2000" dirty="0"/>
              <a:t>→ 機番等、一致を見つけられない</a:t>
            </a:r>
            <a:endParaRPr kumimoji="1"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　→ </a:t>
            </a:r>
            <a:r>
              <a:rPr kumimoji="1" lang="en-US" altLang="ja-JP" sz="2000" b="1" dirty="0"/>
              <a:t>TMSS</a:t>
            </a:r>
            <a:r>
              <a:rPr kumimoji="1" lang="ja-JP" altLang="en-US" sz="2000" b="1" dirty="0"/>
              <a:t>の質問に対する回答精度が落ちる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B6C46F-C019-03F2-1CF9-0F2621531BE7}"/>
              </a:ext>
            </a:extLst>
          </p:cNvPr>
          <p:cNvSpPr txBox="1"/>
          <p:nvPr/>
        </p:nvSpPr>
        <p:spPr>
          <a:xfrm>
            <a:off x="7259780" y="2948226"/>
            <a:ext cx="1338828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質問</a:t>
            </a:r>
            <a:endParaRPr lang="en-US" altLang="ja-JP" dirty="0"/>
          </a:p>
          <a:p>
            <a:r>
              <a:rPr kumimoji="1" lang="en-US" altLang="ja-JP" dirty="0"/>
              <a:t>↓</a:t>
            </a:r>
            <a:endParaRPr lang="en-US" altLang="ja-JP" dirty="0"/>
          </a:p>
          <a:p>
            <a:r>
              <a:rPr kumimoji="1" lang="ja-JP" altLang="en-US" dirty="0"/>
              <a:t>ベクトル化</a:t>
            </a:r>
            <a:endParaRPr lang="en-US" altLang="ja-JP" dirty="0"/>
          </a:p>
          <a:p>
            <a:r>
              <a:rPr kumimoji="1" lang="en-US" altLang="ja-JP" dirty="0"/>
              <a:t>↓</a:t>
            </a:r>
            <a:endParaRPr lang="en-US" altLang="ja-JP" dirty="0"/>
          </a:p>
          <a:p>
            <a:r>
              <a:rPr kumimoji="1" lang="ja-JP" altLang="en-US" dirty="0"/>
              <a:t>類似度検索</a:t>
            </a:r>
            <a:endParaRPr lang="en-US" altLang="ja-JP" dirty="0"/>
          </a:p>
          <a:p>
            <a:r>
              <a:rPr kumimoji="1" lang="en-US" altLang="ja-JP" dirty="0"/>
              <a:t>↓</a:t>
            </a:r>
            <a:endParaRPr lang="en-US" altLang="ja-JP" dirty="0"/>
          </a:p>
          <a:p>
            <a:r>
              <a:rPr kumimoji="1" lang="ja-JP" altLang="en-US" dirty="0"/>
              <a:t>回答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6E1939-4379-7640-D181-DE3E1423C48F}"/>
              </a:ext>
            </a:extLst>
          </p:cNvPr>
          <p:cNvSpPr txBox="1"/>
          <p:nvPr/>
        </p:nvSpPr>
        <p:spPr>
          <a:xfrm>
            <a:off x="9219208" y="2964872"/>
            <a:ext cx="2605200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質問</a:t>
            </a:r>
            <a:endParaRPr lang="en-US" altLang="ja-JP" dirty="0"/>
          </a:p>
          <a:p>
            <a:r>
              <a:rPr kumimoji="1" lang="en-US" altLang="ja-JP" dirty="0"/>
              <a:t>↓</a:t>
            </a:r>
            <a:endParaRPr lang="en-US" altLang="ja-JP" dirty="0"/>
          </a:p>
          <a:p>
            <a:r>
              <a:rPr kumimoji="1" lang="ja-JP" altLang="en-US" dirty="0"/>
              <a:t>キーワード検索</a:t>
            </a:r>
            <a:r>
              <a:rPr kumimoji="1" lang="en-US" altLang="ja-JP" dirty="0"/>
              <a:t>(BM25)</a:t>
            </a:r>
          </a:p>
          <a:p>
            <a:r>
              <a:rPr kumimoji="1" lang="ja-JP" altLang="en-US" dirty="0"/>
              <a:t>＋</a:t>
            </a:r>
            <a:endParaRPr lang="en-US" altLang="ja-JP" dirty="0"/>
          </a:p>
          <a:p>
            <a:r>
              <a:rPr kumimoji="1" lang="en-US" altLang="ja-JP" dirty="0"/>
              <a:t>Embedding</a:t>
            </a:r>
            <a:r>
              <a:rPr kumimoji="1" lang="ja-JP" altLang="en-US" dirty="0"/>
              <a:t>検索</a:t>
            </a:r>
            <a:endParaRPr lang="en-US" altLang="ja-JP" dirty="0"/>
          </a:p>
          <a:p>
            <a:r>
              <a:rPr kumimoji="1" lang="en-US" altLang="ja-JP" dirty="0"/>
              <a:t>↓</a:t>
            </a:r>
            <a:endParaRPr lang="en-US" altLang="ja-JP" dirty="0"/>
          </a:p>
          <a:p>
            <a:r>
              <a:rPr kumimoji="1" lang="ja-JP" altLang="en-US" dirty="0"/>
              <a:t>結果統合</a:t>
            </a:r>
            <a:endParaRPr lang="en-US" altLang="ja-JP" dirty="0"/>
          </a:p>
          <a:p>
            <a:r>
              <a:rPr kumimoji="1" lang="en-US" altLang="ja-JP" dirty="0"/>
              <a:t>↓</a:t>
            </a:r>
            <a:endParaRPr lang="en-US" altLang="ja-JP" dirty="0"/>
          </a:p>
          <a:p>
            <a:r>
              <a:rPr kumimoji="1" lang="en-US" altLang="ja-JP" dirty="0"/>
              <a:t>Semantic Ranker</a:t>
            </a:r>
          </a:p>
          <a:p>
            <a:r>
              <a:rPr kumimoji="1" lang="en-US" altLang="ja-JP" dirty="0"/>
              <a:t>↓</a:t>
            </a:r>
          </a:p>
          <a:p>
            <a:r>
              <a:rPr kumimoji="1" lang="ja-JP" altLang="en-US" dirty="0"/>
              <a:t>回答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66E3448-EF97-80B5-4147-7FA7C451E783}"/>
              </a:ext>
            </a:extLst>
          </p:cNvPr>
          <p:cNvSpPr txBox="1"/>
          <p:nvPr/>
        </p:nvSpPr>
        <p:spPr>
          <a:xfrm>
            <a:off x="8088129" y="209601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質問時の検索フロー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ABECC12-00FF-D119-56BB-1E08934C3DD0}"/>
              </a:ext>
            </a:extLst>
          </p:cNvPr>
          <p:cNvSpPr txBox="1"/>
          <p:nvPr/>
        </p:nvSpPr>
        <p:spPr>
          <a:xfrm>
            <a:off x="7009712" y="257889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Embedding</a:t>
            </a:r>
            <a:r>
              <a:rPr kumimoji="1" lang="ja-JP" altLang="en-US" dirty="0"/>
              <a:t>のみ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3639C27-6DFB-F6AA-F0DC-478F6D7B0E1A}"/>
              </a:ext>
            </a:extLst>
          </p:cNvPr>
          <p:cNvSpPr txBox="1"/>
          <p:nvPr/>
        </p:nvSpPr>
        <p:spPr>
          <a:xfrm>
            <a:off x="9482775" y="2578894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Azure AI Search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970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A8A8709-FE9E-581C-5ACB-34FF84381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202661"/>
              </p:ext>
            </p:extLst>
          </p:nvPr>
        </p:nvGraphicFramePr>
        <p:xfrm>
          <a:off x="685801" y="790303"/>
          <a:ext cx="10515600" cy="1005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748339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868880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967908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5246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>
                          <a:effectLst/>
                        </a:rPr>
                        <a:t>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>
                          <a:effectLst/>
                        </a:rPr>
                        <a:t>ベクトル検索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>
                          <a:effectLst/>
                        </a:rPr>
                        <a:t>キーワード検索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>
                          <a:effectLst/>
                        </a:rPr>
                        <a:t>ハイブリッド検索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278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>
                          <a:effectLst/>
                        </a:rPr>
                        <a:t>検索方法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>
                          <a:effectLst/>
                        </a:rPr>
                        <a:t>意味の近さをベクトル類似度で検索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>
                          <a:effectLst/>
                        </a:rPr>
                        <a:t>単語一致で検索（</a:t>
                      </a:r>
                      <a:r>
                        <a:rPr lang="en-US" altLang="ja-JP" dirty="0">
                          <a:effectLst/>
                        </a:rPr>
                        <a:t>BM25</a:t>
                      </a:r>
                      <a:r>
                        <a:rPr lang="ja-JP" altLang="en-US" dirty="0">
                          <a:effectLst/>
                        </a:rPr>
                        <a:t>など）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>
                          <a:effectLst/>
                        </a:rPr>
                        <a:t>ベクトル検索＋キーワード検索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313338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2A5E86E-082D-F1DB-A222-9785A701C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008646"/>
              </p:ext>
            </p:extLst>
          </p:nvPr>
        </p:nvGraphicFramePr>
        <p:xfrm>
          <a:off x="685801" y="2005146"/>
          <a:ext cx="10515600" cy="39319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162654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80154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563043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420284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「休暇申請のやり方を教えて」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870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「有給休暇申請手順」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72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「製品 </a:t>
                      </a:r>
                      <a:r>
                        <a:rPr lang="en-US" dirty="0"/>
                        <a:t>ABC-1234 </a:t>
                      </a:r>
                      <a:r>
                        <a:rPr lang="ja-JP" altLang="en-US" dirty="0"/>
                        <a:t>の仕様書」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1087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「エラーコード </a:t>
                      </a:r>
                      <a:r>
                        <a:rPr lang="en-US" altLang="ja-JP"/>
                        <a:t>E001 </a:t>
                      </a:r>
                      <a:r>
                        <a:rPr lang="ja-JP" altLang="en-US"/>
                        <a:t>の対処方法」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83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「経費精算のルール」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9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「旅費を申請するときの決まり」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79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「契約書 </a:t>
                      </a:r>
                      <a:r>
                        <a:rPr lang="en-US"/>
                        <a:t>No.2024-001」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260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37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09E424-5F49-FC08-53E7-3CD4CD685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365" y="291234"/>
            <a:ext cx="10515600" cy="697057"/>
          </a:xfrm>
        </p:spPr>
        <p:txBody>
          <a:bodyPr>
            <a:normAutofit/>
          </a:bodyPr>
          <a:lstStyle/>
          <a:p>
            <a:r>
              <a:rPr kumimoji="1" lang="ja-JP" altLang="en-US" sz="3600" dirty="0"/>
              <a:t>データ保存先</a:t>
            </a: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809D9770-E272-0CB6-C51E-5F1115314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553384"/>
              </p:ext>
            </p:extLst>
          </p:nvPr>
        </p:nvGraphicFramePr>
        <p:xfrm>
          <a:off x="249382" y="1228437"/>
          <a:ext cx="11693235" cy="48675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38647">
                  <a:extLst>
                    <a:ext uri="{9D8B030D-6E8A-4147-A177-3AD203B41FA5}">
                      <a16:colId xmlns:a16="http://schemas.microsoft.com/office/drawing/2014/main" val="540698305"/>
                    </a:ext>
                  </a:extLst>
                </a:gridCol>
                <a:gridCol w="2338647">
                  <a:extLst>
                    <a:ext uri="{9D8B030D-6E8A-4147-A177-3AD203B41FA5}">
                      <a16:colId xmlns:a16="http://schemas.microsoft.com/office/drawing/2014/main" val="1289213654"/>
                    </a:ext>
                  </a:extLst>
                </a:gridCol>
                <a:gridCol w="2338647">
                  <a:extLst>
                    <a:ext uri="{9D8B030D-6E8A-4147-A177-3AD203B41FA5}">
                      <a16:colId xmlns:a16="http://schemas.microsoft.com/office/drawing/2014/main" val="1254804630"/>
                    </a:ext>
                  </a:extLst>
                </a:gridCol>
                <a:gridCol w="2338647">
                  <a:extLst>
                    <a:ext uri="{9D8B030D-6E8A-4147-A177-3AD203B41FA5}">
                      <a16:colId xmlns:a16="http://schemas.microsoft.com/office/drawing/2014/main" val="1513790877"/>
                    </a:ext>
                  </a:extLst>
                </a:gridCol>
                <a:gridCol w="2338647">
                  <a:extLst>
                    <a:ext uri="{9D8B030D-6E8A-4147-A177-3AD203B41FA5}">
                      <a16:colId xmlns:a16="http://schemas.microsoft.com/office/drawing/2014/main" val="3414634646"/>
                    </a:ext>
                  </a:extLst>
                </a:gridCol>
              </a:tblGrid>
              <a:tr h="695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/>
                        <a:t>項目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/>
                        <a:t>現行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構成① </a:t>
                      </a:r>
                      <a:r>
                        <a:rPr lang="en-US" sz="1600" dirty="0" err="1"/>
                        <a:t>Dify</a:t>
                      </a:r>
                      <a:r>
                        <a:rPr lang="en-US" sz="1600" dirty="0"/>
                        <a:t> Knowledge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構成② </a:t>
                      </a:r>
                      <a:r>
                        <a:rPr lang="en-US" sz="1600" dirty="0" err="1"/>
                        <a:t>VectorDB</a:t>
                      </a:r>
                      <a:endParaRPr lang="en-US" sz="1600" dirty="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/>
                        <a:t>構成③ </a:t>
                      </a:r>
                      <a:r>
                        <a:rPr lang="en-US" sz="1600"/>
                        <a:t>Azure AI Search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4127653619"/>
                  </a:ext>
                </a:extLst>
              </a:tr>
              <a:tr h="397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/>
                        <a:t>元データ保管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NAS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NAS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NAS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NAS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05058975"/>
                  </a:ext>
                </a:extLst>
              </a:tr>
              <a:tr h="695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/>
                        <a:t>検索データ永続保存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600" dirty="0"/>
                        <a:t>CHUPPY</a:t>
                      </a:r>
                      <a:r>
                        <a:rPr lang="ja-JP" altLang="en-US" sz="1600" dirty="0"/>
                        <a:t>の</a:t>
                      </a:r>
                      <a:r>
                        <a:rPr lang="en-US" altLang="ja-JP" sz="1600" dirty="0"/>
                        <a:t>PC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Dify</a:t>
                      </a:r>
                      <a:r>
                        <a:rPr lang="en-US" sz="1600" dirty="0"/>
                        <a:t>(</a:t>
                      </a:r>
                      <a:r>
                        <a:rPr lang="ja-JP" altLang="en-US" sz="1600" dirty="0"/>
                        <a:t>オンプレ</a:t>
                      </a:r>
                      <a:r>
                        <a:rPr lang="en-US" altLang="ja-JP" sz="1600" dirty="0"/>
                        <a:t>)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VectorDB</a:t>
                      </a:r>
                      <a:r>
                        <a:rPr lang="en-US" sz="1600" dirty="0"/>
                        <a:t>(</a:t>
                      </a:r>
                      <a:r>
                        <a:rPr lang="ja-JP" altLang="en-US" sz="1600" dirty="0"/>
                        <a:t>オンプレ</a:t>
                      </a:r>
                      <a:r>
                        <a:rPr lang="en-US" altLang="ja-JP" sz="1600" dirty="0"/>
                        <a:t>)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Azure AI Search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538603935"/>
                  </a:ext>
                </a:extLst>
              </a:tr>
              <a:tr h="695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/>
                        <a:t>検索データのクラウド永続保存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600"/>
                        <a:t>×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600" dirty="0"/>
                        <a:t>×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600" dirty="0"/>
                        <a:t>×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○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549227089"/>
                  </a:ext>
                </a:extLst>
              </a:tr>
              <a:tr h="99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600"/>
                        <a:t>Azure</a:t>
                      </a:r>
                      <a:r>
                        <a:rPr lang="ja-JP" altLang="en-US" sz="1600"/>
                        <a:t>へのデータ送信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GPT-5.5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Document Intelligence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Document Intelligence + Embedding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Document Intelligence + Azure AI Search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481385520"/>
                  </a:ext>
                </a:extLst>
              </a:tr>
              <a:tr h="695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/>
                        <a:t>クラウドでの一時処理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○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○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○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○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462764168"/>
                  </a:ext>
                </a:extLst>
              </a:tr>
              <a:tr h="695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/>
                        <a:t>検索データのオンプレ保存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○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○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dirty="0"/>
                        <a:t>○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600" dirty="0"/>
                        <a:t>×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449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252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61E5F-2C91-BDC2-9FE0-6C3C853E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>
            <a:normAutofit/>
          </a:bodyPr>
          <a:lstStyle/>
          <a:p>
            <a:r>
              <a:rPr kumimoji="1" lang="ja-JP" altLang="en-US" sz="3600" dirty="0"/>
              <a:t>セキュリティ関連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73F7A3-1ECD-BB6B-CF61-254ABA103190}"/>
              </a:ext>
            </a:extLst>
          </p:cNvPr>
          <p:cNvSpPr txBox="1"/>
          <p:nvPr/>
        </p:nvSpPr>
        <p:spPr>
          <a:xfrm>
            <a:off x="838200" y="1080656"/>
            <a:ext cx="102084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通信時の暗号化</a:t>
            </a:r>
            <a:endParaRPr kumimoji="1" lang="en-US" altLang="ja-JP" b="1" dirty="0"/>
          </a:p>
          <a:p>
            <a:r>
              <a:rPr kumimoji="1" lang="en-US" altLang="ja-JP" dirty="0"/>
              <a:t>Document Intelligence </a:t>
            </a:r>
            <a:r>
              <a:rPr kumimoji="1" lang="ja-JP" altLang="en-US" dirty="0"/>
              <a:t>への送信は </a:t>
            </a:r>
            <a:r>
              <a:rPr kumimoji="1" lang="en-US" altLang="ja-JP" dirty="0"/>
              <a:t>HTTPS/TLS </a:t>
            </a:r>
            <a:r>
              <a:rPr kumimoji="1" lang="ja-JP" altLang="en-US" dirty="0"/>
              <a:t>で暗号化される。</a:t>
            </a:r>
            <a:endParaRPr kumimoji="1" lang="en-US" altLang="ja-JP" dirty="0"/>
          </a:p>
          <a:p>
            <a:r>
              <a:rPr kumimoji="1" lang="ja-JP" altLang="en-US" b="1" dirty="0"/>
              <a:t>保存時の暗号化</a:t>
            </a:r>
            <a:endParaRPr kumimoji="1" lang="en-US" altLang="ja-JP" b="1" dirty="0"/>
          </a:p>
          <a:p>
            <a:r>
              <a:rPr kumimoji="1" lang="en-US" altLang="ja-JP" dirty="0"/>
              <a:t>Document Intelligence </a:t>
            </a:r>
            <a:r>
              <a:rPr kumimoji="1" lang="ja-JP" altLang="en-US" dirty="0"/>
              <a:t>に送信された文書や解析結果は、</a:t>
            </a:r>
            <a:r>
              <a:rPr kumimoji="1" lang="en-US" altLang="ja-JP" dirty="0"/>
              <a:t>Azure Storage </a:t>
            </a:r>
            <a:r>
              <a:rPr kumimoji="1" lang="ja-JP" altLang="en-US" dirty="0"/>
              <a:t>上で暗号化されて一時保存される。</a:t>
            </a:r>
            <a:r>
              <a:rPr kumimoji="1" lang="en-US" altLang="ja-JP" dirty="0"/>
              <a:t>(</a:t>
            </a:r>
            <a:r>
              <a:rPr kumimoji="1" lang="ja-JP" altLang="en-US" dirty="0"/>
              <a:t>最大</a:t>
            </a:r>
            <a:r>
              <a:rPr kumimoji="1" lang="en-US" altLang="ja-JP" dirty="0"/>
              <a:t>24</a:t>
            </a:r>
            <a:r>
              <a:rPr kumimoji="1" lang="ja-JP" altLang="en-US" dirty="0"/>
              <a:t>時間</a:t>
            </a:r>
            <a:r>
              <a:rPr kumimoji="1" lang="en-US" altLang="ja-JP" dirty="0"/>
              <a:t>)</a:t>
            </a:r>
          </a:p>
          <a:p>
            <a:r>
              <a:rPr kumimoji="1" lang="ja-JP" altLang="en-US" b="1" dirty="0"/>
              <a:t>リージョン内処理</a:t>
            </a:r>
            <a:endParaRPr kumimoji="1" lang="en-US" altLang="ja-JP" b="1" dirty="0"/>
          </a:p>
          <a:p>
            <a:r>
              <a:rPr kumimoji="1" lang="ja-JP" altLang="en-US" dirty="0"/>
              <a:t>入力データは、作成した </a:t>
            </a:r>
            <a:r>
              <a:rPr kumimoji="1" lang="en-US" altLang="ja-JP" dirty="0"/>
              <a:t>Document Intelligence </a:t>
            </a:r>
            <a:r>
              <a:rPr kumimoji="1" lang="ja-JP" altLang="en-US" dirty="0"/>
              <a:t>リソースと同じリージョン内で処理される。</a:t>
            </a:r>
            <a:endParaRPr kumimoji="1" lang="en-US" altLang="ja-JP" dirty="0"/>
          </a:p>
          <a:p>
            <a:r>
              <a:rPr kumimoji="1" lang="ja-JP" altLang="en-US" b="1" dirty="0"/>
              <a:t>テナント分離</a:t>
            </a:r>
            <a:endParaRPr kumimoji="1" lang="en-US" altLang="ja-JP" b="1" dirty="0"/>
          </a:p>
          <a:p>
            <a:r>
              <a:rPr kumimoji="1" lang="ja-JP" altLang="en-US" dirty="0"/>
              <a:t>一時保存領域は他の顧客と共有基盤上に存在するが、</a:t>
            </a:r>
            <a:endParaRPr kumimoji="1" lang="en-US" altLang="ja-JP" dirty="0"/>
          </a:p>
          <a:p>
            <a:r>
              <a:rPr kumimoji="1" lang="ja-JP" altLang="en-US" dirty="0"/>
              <a:t>論理的に分離され、認証情報によってアクセス制御される。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EAD3A5-98E7-4694-FD3C-2661B4077235}"/>
              </a:ext>
            </a:extLst>
          </p:cNvPr>
          <p:cNvSpPr txBox="1"/>
          <p:nvPr/>
        </p:nvSpPr>
        <p:spPr>
          <a:xfrm>
            <a:off x="838200" y="4035342"/>
            <a:ext cx="102084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認証方法の比較</a:t>
            </a:r>
            <a:endParaRPr kumimoji="1" lang="en-US" altLang="ja-JP" b="1" dirty="0"/>
          </a:p>
          <a:p>
            <a:r>
              <a:rPr kumimoji="1" lang="ja-JP" altLang="en-US" dirty="0"/>
              <a:t>①</a:t>
            </a:r>
            <a:r>
              <a:rPr lang="en-US" altLang="ja-JP" dirty="0"/>
              <a:t>API Key</a:t>
            </a:r>
            <a:r>
              <a:rPr lang="ja-JP" altLang="en-US" dirty="0"/>
              <a:t>認証</a:t>
            </a:r>
            <a:endParaRPr lang="en-US" altLang="ja-JP" dirty="0"/>
          </a:p>
          <a:p>
            <a:r>
              <a:rPr kumimoji="1" lang="ja-JP" altLang="en-US" dirty="0"/>
              <a:t>メリット：設定が簡単、すぐ試せる、サンプルコードが多い</a:t>
            </a:r>
            <a:endParaRPr kumimoji="1" lang="en-US" altLang="ja-JP" dirty="0"/>
          </a:p>
          <a:p>
            <a:r>
              <a:rPr kumimoji="1" lang="ja-JP" altLang="en-US" dirty="0"/>
              <a:t>デメリット：キー漏洩リスク、キー管理が必要、監査で指摘されやすい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②</a:t>
            </a:r>
            <a:r>
              <a:rPr lang="en-US" altLang="ja-JP" dirty="0"/>
              <a:t>Entra ID</a:t>
            </a:r>
          </a:p>
          <a:p>
            <a:r>
              <a:rPr kumimoji="1" lang="ja-JP" altLang="en-US" dirty="0"/>
              <a:t>メリット</a:t>
            </a:r>
            <a:r>
              <a:rPr lang="ja-JP" altLang="en-US" dirty="0"/>
              <a:t>：</a:t>
            </a:r>
            <a:r>
              <a:rPr kumimoji="1" lang="ja-JP" altLang="en-US" dirty="0"/>
              <a:t>キーを保持しなくてよい、</a:t>
            </a:r>
            <a:r>
              <a:rPr kumimoji="1" lang="en-US" altLang="ja-JP" dirty="0"/>
              <a:t>RBAC</a:t>
            </a:r>
            <a:r>
              <a:rPr kumimoji="1" lang="ja-JP" altLang="en-US" dirty="0"/>
              <a:t>で権限制御可能、</a:t>
            </a:r>
            <a:endParaRPr kumimoji="1" lang="en-US" altLang="ja-JP" dirty="0"/>
          </a:p>
          <a:p>
            <a:r>
              <a:rPr lang="ja-JP" altLang="en-US" dirty="0"/>
              <a:t>　　　　　</a:t>
            </a:r>
            <a:r>
              <a:rPr kumimoji="1" lang="ja-JP" altLang="en-US" dirty="0"/>
              <a:t>監査対応しやすい、有効期限付きトークン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012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134690-8965-58C8-3C3D-ED371221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関連メモ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272EF1-1CA4-4BDC-AE84-696074BD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807"/>
            <a:ext cx="10515600" cy="437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1800" dirty="0">
                <a:hlinkClick r:id="rId2"/>
              </a:rPr>
              <a:t>Azure AI Search(</a:t>
            </a:r>
            <a:r>
              <a:rPr lang="ja-JP" altLang="en-US" sz="1800" dirty="0">
                <a:hlinkClick r:id="rId2"/>
              </a:rPr>
              <a:t>旧</a:t>
            </a:r>
            <a:r>
              <a:rPr lang="en-US" altLang="ja-JP" sz="1800" dirty="0">
                <a:hlinkClick r:id="rId2"/>
              </a:rPr>
              <a:t>Azure Cognitive Search)</a:t>
            </a:r>
            <a:r>
              <a:rPr lang="ja-JP" altLang="en-US" sz="1800" dirty="0">
                <a:hlinkClick r:id="rId2"/>
              </a:rPr>
              <a:t>の機能と料金を徹底解説！ </a:t>
            </a:r>
            <a:r>
              <a:rPr lang="en-US" altLang="ja-JP" sz="1800" dirty="0">
                <a:hlinkClick r:id="rId2"/>
              </a:rPr>
              <a:t>| AI</a:t>
            </a:r>
            <a:r>
              <a:rPr lang="ja-JP" altLang="en-US" sz="1800" dirty="0">
                <a:hlinkClick r:id="rId2"/>
              </a:rPr>
              <a:t>総合研究所</a:t>
            </a:r>
            <a:endParaRPr lang="en-US" altLang="ja-JP" sz="1800" dirty="0"/>
          </a:p>
          <a:p>
            <a:pPr marL="0" indent="0">
              <a:buNone/>
            </a:pPr>
            <a:endParaRPr kumimoji="1" lang="en-US" altLang="ja-JP" sz="1800" dirty="0"/>
          </a:p>
          <a:p>
            <a:pPr marL="0" indent="0">
              <a:buNone/>
            </a:pPr>
            <a:endParaRPr kumimoji="1" lang="ja-JP" altLang="en-US" sz="1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E15509-71C9-A246-84A1-5F97318E0884}"/>
              </a:ext>
            </a:extLst>
          </p:cNvPr>
          <p:cNvSpPr txBox="1"/>
          <p:nvPr/>
        </p:nvSpPr>
        <p:spPr>
          <a:xfrm>
            <a:off x="838200" y="1936893"/>
            <a:ext cx="10753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Azure AI Document Intelligence </a:t>
            </a:r>
            <a:r>
              <a:rPr kumimoji="1" lang="ja-JP" altLang="en-US" dirty="0"/>
              <a:t>は解析処理のため、</a:t>
            </a:r>
            <a:endParaRPr kumimoji="1" lang="en-US" altLang="ja-JP" dirty="0"/>
          </a:p>
          <a:p>
            <a:r>
              <a:rPr kumimoji="1" lang="ja-JP" altLang="en-US" dirty="0"/>
              <a:t>入力文書および抽出結果を同一リージョンの </a:t>
            </a:r>
            <a:r>
              <a:rPr kumimoji="1" lang="en-US" altLang="ja-JP" dirty="0"/>
              <a:t>Azure Storage </a:t>
            </a:r>
            <a:r>
              <a:rPr kumimoji="1" lang="ja-JP" altLang="en-US" dirty="0"/>
              <a:t>に一時保存する。</a:t>
            </a:r>
            <a:endParaRPr kumimoji="1" lang="en-US" altLang="ja-JP" dirty="0"/>
          </a:p>
          <a:p>
            <a:r>
              <a:rPr kumimoji="1" lang="ja-JP" altLang="en-US" dirty="0"/>
              <a:t>保存期間は結果取得のための短期間（通常最大</a:t>
            </a:r>
            <a:r>
              <a:rPr kumimoji="1" lang="en-US" altLang="ja-JP" dirty="0"/>
              <a:t>24</a:t>
            </a:r>
            <a:r>
              <a:rPr kumimoji="1" lang="ja-JP" altLang="en-US" dirty="0"/>
              <a:t>時間程度）であり、その後自動削除される。</a:t>
            </a:r>
            <a:endParaRPr kumimoji="1" lang="en-US" altLang="ja-JP" dirty="0"/>
          </a:p>
          <a:p>
            <a:r>
              <a:rPr kumimoji="1" lang="ja-JP" altLang="en-US" dirty="0"/>
              <a:t>一方、</a:t>
            </a:r>
            <a:r>
              <a:rPr kumimoji="1" lang="en-US" altLang="ja-JP" dirty="0"/>
              <a:t>Azure AI Search </a:t>
            </a:r>
            <a:r>
              <a:rPr kumimoji="1" lang="ja-JP" altLang="en-US" dirty="0"/>
              <a:t>を利用する構成では、</a:t>
            </a:r>
            <a:endParaRPr kumimoji="1" lang="en-US" altLang="ja-JP" dirty="0"/>
          </a:p>
          <a:p>
            <a:r>
              <a:rPr kumimoji="1" lang="ja-JP" altLang="en-US" dirty="0"/>
              <a:t>検索用チャンク・</a:t>
            </a:r>
            <a:r>
              <a:rPr kumimoji="1" lang="en-US" altLang="ja-JP" dirty="0"/>
              <a:t>Embedding</a:t>
            </a:r>
            <a:r>
              <a:rPr kumimoji="1" lang="ja-JP" altLang="en-US" dirty="0"/>
              <a:t>・検索インデックスが </a:t>
            </a:r>
            <a:r>
              <a:rPr kumimoji="1" lang="en-US" altLang="ja-JP" dirty="0"/>
              <a:t>Azure AI Search </a:t>
            </a:r>
            <a:r>
              <a:rPr kumimoji="1" lang="ja-JP" altLang="en-US" dirty="0"/>
              <a:t>サービスへ永続保存される。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76A7AED-0049-D60C-5D81-F90AA0F04439}"/>
              </a:ext>
            </a:extLst>
          </p:cNvPr>
          <p:cNvSpPr txBox="1"/>
          <p:nvPr/>
        </p:nvSpPr>
        <p:spPr>
          <a:xfrm>
            <a:off x="838200" y="3635461"/>
            <a:ext cx="102084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通信時の暗号化</a:t>
            </a:r>
            <a:endParaRPr kumimoji="1" lang="en-US" altLang="ja-JP" dirty="0"/>
          </a:p>
          <a:p>
            <a:r>
              <a:rPr kumimoji="1" lang="en-US" altLang="ja-JP" dirty="0"/>
              <a:t>Document Intelligence </a:t>
            </a:r>
            <a:r>
              <a:rPr kumimoji="1" lang="ja-JP" altLang="en-US" dirty="0"/>
              <a:t>への送信は </a:t>
            </a:r>
            <a:r>
              <a:rPr kumimoji="1" lang="en-US" altLang="ja-JP" dirty="0"/>
              <a:t>HTTPS/TLS </a:t>
            </a:r>
            <a:r>
              <a:rPr kumimoji="1" lang="ja-JP" altLang="en-US" dirty="0"/>
              <a:t>で暗号化される。</a:t>
            </a:r>
            <a:endParaRPr kumimoji="1" lang="en-US" altLang="ja-JP" dirty="0"/>
          </a:p>
          <a:p>
            <a:r>
              <a:rPr kumimoji="1" lang="ja-JP" altLang="en-US" dirty="0"/>
              <a:t>保存時の暗号化</a:t>
            </a:r>
            <a:endParaRPr kumimoji="1" lang="en-US" altLang="ja-JP" dirty="0"/>
          </a:p>
          <a:p>
            <a:r>
              <a:rPr kumimoji="1" lang="en-US" altLang="ja-JP" dirty="0"/>
              <a:t>Document Intelligence </a:t>
            </a:r>
            <a:r>
              <a:rPr kumimoji="1" lang="ja-JP" altLang="en-US" dirty="0"/>
              <a:t>に送信された文書や解析結果は、</a:t>
            </a:r>
            <a:r>
              <a:rPr kumimoji="1" lang="en-US" altLang="ja-JP" dirty="0"/>
              <a:t>Azure Storage </a:t>
            </a:r>
            <a:r>
              <a:rPr kumimoji="1" lang="ja-JP" altLang="en-US" dirty="0"/>
              <a:t>上で暗号化されて一時保存される。</a:t>
            </a:r>
            <a:endParaRPr kumimoji="1" lang="en-US" altLang="ja-JP" dirty="0"/>
          </a:p>
          <a:p>
            <a:r>
              <a:rPr kumimoji="1" lang="ja-JP" altLang="en-US" dirty="0"/>
              <a:t>リージョン内処理</a:t>
            </a:r>
            <a:endParaRPr kumimoji="1" lang="en-US" altLang="ja-JP" dirty="0"/>
          </a:p>
          <a:p>
            <a:r>
              <a:rPr kumimoji="1" lang="ja-JP" altLang="en-US" dirty="0"/>
              <a:t>入力データは、作成した </a:t>
            </a:r>
            <a:r>
              <a:rPr kumimoji="1" lang="en-US" altLang="ja-JP" dirty="0"/>
              <a:t>Document Intelligence </a:t>
            </a:r>
            <a:r>
              <a:rPr kumimoji="1" lang="ja-JP" altLang="en-US" dirty="0"/>
              <a:t>リソースと同じリージョン内で処理される。</a:t>
            </a:r>
            <a:endParaRPr kumimoji="1" lang="en-US" altLang="ja-JP" dirty="0"/>
          </a:p>
          <a:p>
            <a:r>
              <a:rPr kumimoji="1" lang="ja-JP" altLang="en-US" dirty="0"/>
              <a:t>テナント分離</a:t>
            </a:r>
            <a:endParaRPr kumimoji="1" lang="en-US" altLang="ja-JP" dirty="0"/>
          </a:p>
          <a:p>
            <a:r>
              <a:rPr kumimoji="1" lang="ja-JP" altLang="en-US" dirty="0"/>
              <a:t>一時保存領域は他の顧客と共有基盤上に存在するが、</a:t>
            </a:r>
            <a:endParaRPr kumimoji="1" lang="en-US" altLang="ja-JP" dirty="0"/>
          </a:p>
          <a:p>
            <a:r>
              <a:rPr kumimoji="1" lang="ja-JP" altLang="en-US" dirty="0"/>
              <a:t>論理的に分離され、認証情報によってアクセス制御される。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9085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07baa65-cc6e-4006-9b7d-93b21be63932}" enabled="1" method="Standard" siteId="{d1c1335e-f582-42a9-b6fe-5e1a16eb9b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5578</TotalTime>
  <Words>820</Words>
  <Application>Microsoft Office PowerPoint</Application>
  <PresentationFormat>ワイド画面</PresentationFormat>
  <Paragraphs>221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Calibri</vt:lpstr>
      <vt:lpstr>Office テーマ</vt:lpstr>
      <vt:lpstr>CHUPPY RAG構成案</vt:lpstr>
      <vt:lpstr>PowerPoint プレゼンテーション</vt:lpstr>
      <vt:lpstr>PowerPoint プレゼンテーション</vt:lpstr>
      <vt:lpstr>PowerPoint プレゼンテーション</vt:lpstr>
      <vt:lpstr>Azure AI Searchについて</vt:lpstr>
      <vt:lpstr>PowerPoint プレゼンテーション</vt:lpstr>
      <vt:lpstr>データ保存先</vt:lpstr>
      <vt:lpstr>セキュリティ関連</vt:lpstr>
      <vt:lpstr>関連メモ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Azuma, Sota/東 奏太</dc:creator>
  <cp:lastModifiedBy>Azuma, Sota/東 奏太</cp:lastModifiedBy>
  <cp:revision>2</cp:revision>
  <dcterms:created xsi:type="dcterms:W3CDTF">2026-07-14T02:48:43Z</dcterms:created>
  <dcterms:modified xsi:type="dcterms:W3CDTF">2026-08-04T06:07:37Z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テーマ:8</vt:lpwstr>
  </property>
  <property fmtid="{D5CDD505-2E9C-101B-9397-08002B2CF9AE}" pid="3" name="ClassificationContentMarkingHeaderText">
    <vt:lpwstr>PROTECTED 関係者外秘</vt:lpwstr>
  </property>
</Properties>
</file>